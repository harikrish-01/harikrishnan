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f3b4933-5731-561a-49b2-cc82abe72719}">
          <p14:sldIdLst>
            <p14:sldId id="256"/>
            <p14:sldId id="257"/>
            <p14:sldId id="258"/>
            <p14:sldId id="259"/>
          </p14:sldIdLst>
        </p14:section>
        <p14:section name="Approach" id="{cd855316-b4aa-e5a0-070a-ffbba5106ba0}">
          <p14:sldIdLst>
            <p14:sldId id="260"/>
            <p14:sldId id="261"/>
            <p14:sldId id="262"/>
          </p14:sldIdLst>
        </p14:section>
        <p14:section name="Results" id="{38f081d1-6541-2fc2-2bb6-a1f53d385b79}">
          <p14:sldIdLst>
            <p14:sldId id="263"/>
            <p14:sldId id="264"/>
            <p14:sldId id="265"/>
            <p14:sldId id="266"/>
          </p14:sldIdLst>
        </p14:section>
        <p14:section name="Wrap-up" id="{dff0d349-1b57-37e0-fd31-9ffb8ced3afe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3"/>
                </a:solidFill>
                <a:latin typeface="+mn-lt"/>
              </a:rPr>
              <a:t>Share of total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64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Smartphone</c:v>
                  </c:pt>
                  <c:pt idx="1">
                    <c:v>Tablet</c:v>
                  </c:pt>
                  <c:pt idx="2">
                    <c:v>Laptop</c:v>
                  </c:pt>
                  <c:pt idx="3">
                    <c:v>Smartwatch</c:v>
                  </c:pt>
                  <c:pt idx="4">
                    <c:v>Headphones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20.3</c:v>
                </c:pt>
                <c:pt idx="2">
                  <c:v>15.1</c:v>
                </c:pt>
                <c:pt idx="3">
                  <c:v>6.5</c:v>
                </c:pt>
                <c:pt idx="4">
                  <c:v>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3"/>
                </a:solidFill>
                <a:latin typeface="+mn-lt"/>
              </a:rPr>
              <a:t>Share of total revenue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7D8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C7F6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3641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38.3</c:v>
                </c:pt>
                <c:pt idx="1">
                  <c:v>28.9</c:v>
                </c:pt>
                <c:pt idx="2">
                  <c:v>22.7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6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3"/>
                </a:solidFill>
                <a:latin typeface="+mn-lt"/>
              </a:rPr>
              <a:t>Monthly revenue (INR)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0F4C5C"/>
            </a:solidFill>
            <a:ln w="3810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
583,500</c:v>
                  </c:pt>
                  <c:pt idx="1">
                    <c:v>Feb
545,000</c:v>
                  </c:pt>
                  <c:pt idx="2">
                    <c:v>Mar
368,500</c:v>
                  </c:pt>
                  <c:pt idx="3">
                    <c:v>Apr
224,500</c:v>
                  </c:pt>
                  <c:pt idx="4">
                    <c:v>May
487,000</c:v>
                  </c:pt>
                  <c:pt idx="5">
                    <c:v>Jun
715,000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583500</c:v>
                </c:pt>
                <c:pt idx="1">
                  <c:v>545000</c:v>
                </c:pt>
                <c:pt idx="2">
                  <c:v>368500</c:v>
                </c:pt>
                <c:pt idx="3">
                  <c:v>224500</c:v>
                </c:pt>
                <c:pt idx="4">
                  <c:v>487000</c:v>
                </c:pt>
                <c:pt idx="5">
                  <c:v>715000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0"/>
          <c:min val="0"/>
        </c:scaling>
        <c:delete val="0"/>
        <c:axPos val="l"/>
        <c:majorGridlines>
          <c:spPr>
            <a:ln w="6350" cap="flat">
              <a:solidFill>
                <a:srgbClr val="D9E1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Python-based sales data analysis done during the internship at Fantasy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 with manual spreadsheets and how a repeatable Python workflow solves it. The whole analysis rests on one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Fantasy Solution is an IT services company in Trichy. My part was the sales data analysis project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objectives: load and inspect, clean, analyse, and visualise.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Stress that a validity check sends faulty data back to cleaning before the flow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covers January to June 2025 with six columns. It is illustrative sample data, not real company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61 raw rows became 59 valid orders after removing one duplicate, dropping one record with no region, and filling one missing quantity with the median.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numbers: INR 2,923,500 total revenue from 59 orders, an average order value of INR 49,551.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Smartphone is the clear leader with 53.0% of revenue, followed by Tablet at 20.3% and Laptop at 15.1%.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leads at 38.3%, South contributes only 10.0%.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dipped to INR 224,500 in April and peaked at INR 715,000 in June.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seven functional tests passed, and the product, region and month totals each reconcile to INR 2,923,500.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practical takeaways: watch Smartphone stock, look into South, and plan promotions for weak months. Confirm with real company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learned over the 30 days and where this project can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summary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64922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6E4E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Sales Data Analysis  |  Harikrishnan 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ort label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59"/>
                </a:solidFill>
              </a:rPr>
              <a:t>SUMMER INTERNSHIP REPORT  |  IT3711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37160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Sales Data Analysis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611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4E6"/>
                </a:solidFill>
              </a:rPr>
              <a:t>Python-based analysis of sales records using Pandas, NumPy, Matplotlib and Seaborn</a:t>
            </a:r>
            <a:endParaRPr lang="en-US" sz="2000" dirty="0"/>
          </a:p>
        </p:txBody>
      </p:sp>
      <p:sp>
        <p:nvSpPr>
          <p:cNvPr id="5" name="Author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Harikrishnan T  |  810023205039</a:t>
            </a:r>
            <a:endParaRPr lang="en-US" sz="1800" dirty="0"/>
          </a:p>
        </p:txBody>
      </p:sp>
      <p:sp>
        <p:nvSpPr>
          <p:cNvPr id="6" name="Affiliation"/>
          <p:cNvSpPr txBox="1"/>
          <p:nvPr/>
        </p:nvSpPr>
        <p:spPr>
          <a:xfrm>
            <a:off x="822960" y="5669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4E6"/>
                </a:solidFill>
              </a:rPr>
              <a:t>B.Tech Information Technology, Anna University (BIT Campus), Tiruchirappalli</a:t>
            </a:r>
            <a:endParaRPr lang="en-US" sz="1400" dirty="0"/>
          </a:p>
        </p:txBody>
      </p:sp>
      <p:sp>
        <p:nvSpPr>
          <p:cNvPr id="7" name="Monthly bar 1"/>
          <p:cNvSpPr/>
          <p:nvPr/>
        </p:nvSpPr>
        <p:spPr>
          <a:xfrm>
            <a:off x="7498080" y="2309148"/>
            <a:ext cx="457200" cy="25371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Monthly bar 2"/>
          <p:cNvSpPr/>
          <p:nvPr/>
        </p:nvSpPr>
        <p:spPr>
          <a:xfrm>
            <a:off x="8183880" y="2476553"/>
            <a:ext cx="457200" cy="236976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Monthly bar 3"/>
          <p:cNvSpPr/>
          <p:nvPr/>
        </p:nvSpPr>
        <p:spPr>
          <a:xfrm>
            <a:off x="8869680" y="3244010"/>
            <a:ext cx="457200" cy="160231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Monthly bar 4"/>
          <p:cNvSpPr/>
          <p:nvPr/>
        </p:nvSpPr>
        <p:spPr>
          <a:xfrm>
            <a:off x="9555480" y="3870150"/>
            <a:ext cx="457200" cy="97617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Monthly bar 5"/>
          <p:cNvSpPr/>
          <p:nvPr/>
        </p:nvSpPr>
        <p:spPr>
          <a:xfrm>
            <a:off x="10241280" y="2728749"/>
            <a:ext cx="457200" cy="211757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2" name="Monthly bar 6"/>
          <p:cNvSpPr/>
          <p:nvPr/>
        </p:nvSpPr>
        <p:spPr>
          <a:xfrm>
            <a:off x="10927080" y="1737360"/>
            <a:ext cx="457200" cy="3108960"/>
          </a:xfrm>
          <a:prstGeom prst="rect">
            <a:avLst/>
          </a:prstGeom>
          <a:solidFill>
            <a:srgbClr val="E3641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sales data analysis?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645920"/>
            <a:ext cx="530352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4" name="Problem badge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rgbClr val="E36414"/>
          </a:solidFill>
          <a:ln/>
        </p:spPr>
      </p:sp>
      <p:pic>
        <p:nvPicPr>
          <p:cNvPr id="5" name="Problem badge icon" descr="Problem ba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6" name="Problem heading"/>
          <p:cNvSpPr txBox="1"/>
          <p:nvPr/>
        </p:nvSpPr>
        <p:spPr>
          <a:xfrm>
            <a:off x="192024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</a:t>
            </a:r>
            <a:endParaRPr lang="en-US" sz="2400" dirty="0"/>
          </a:p>
        </p:txBody>
      </p:sp>
      <p:sp>
        <p:nvSpPr>
          <p:cNvPr id="7" name="Problem text"/>
          <p:cNvSpPr txBox="1"/>
          <p:nvPr/>
        </p:nvSpPr>
        <p:spPr>
          <a:xfrm>
            <a:off x="1005840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Manual spreadsheets are slow, with duplicate entries, wrong totals and mixed formats.</a:t>
            </a:r>
            <a:endParaRPr lang="en-US" sz="1800" dirty="0"/>
          </a:p>
        </p:txBody>
      </p:sp>
      <p:sp>
        <p:nvSpPr>
          <p:cNvPr id="8" name="Solution card"/>
          <p:cNvSpPr/>
          <p:nvPr/>
        </p:nvSpPr>
        <p:spPr>
          <a:xfrm>
            <a:off x="6245352" y="1645920"/>
            <a:ext cx="530352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9" name="Solution badge"/>
          <p:cNvSpPr/>
          <p:nvPr/>
        </p:nvSpPr>
        <p:spPr>
          <a:xfrm>
            <a:off x="6611112" y="1920240"/>
            <a:ext cx="731520" cy="73152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0" name="Solution badge icon" descr="Solution ba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103120"/>
            <a:ext cx="365760" cy="365760"/>
          </a:xfrm>
          <a:prstGeom prst="rect">
            <a:avLst/>
          </a:prstGeom>
        </p:spPr>
      </p:pic>
      <p:sp>
        <p:nvSpPr>
          <p:cNvPr id="11" name="Solution heading"/>
          <p:cNvSpPr txBox="1"/>
          <p:nvPr/>
        </p:nvSpPr>
        <p:spPr>
          <a:xfrm>
            <a:off x="7525512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Solution</a:t>
            </a:r>
            <a:endParaRPr lang="en-US" sz="2400" dirty="0"/>
          </a:p>
        </p:txBody>
      </p:sp>
      <p:sp>
        <p:nvSpPr>
          <p:cNvPr id="12" name="Solution text"/>
          <p:cNvSpPr txBox="1"/>
          <p:nvPr/>
        </p:nvSpPr>
        <p:spPr>
          <a:xfrm>
            <a:off x="6611112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repeatable Python workflow that cleans data, calculates revenue and charts results.</a:t>
            </a:r>
            <a:endParaRPr lang="en-US" sz="1800" dirty="0"/>
          </a:p>
        </p:txBody>
      </p:sp>
      <p:sp>
        <p:nvSpPr>
          <p:cNvPr id="13" name="Formula band"/>
          <p:cNvSpPr/>
          <p:nvPr/>
        </p:nvSpPr>
        <p:spPr>
          <a:xfrm>
            <a:off x="640080" y="45720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0F4C5C"/>
          </a:solidFill>
          <a:ln/>
        </p:spPr>
      </p:sp>
      <p:sp>
        <p:nvSpPr>
          <p:cNvPr id="14" name="Formula"/>
          <p:cNvSpPr txBox="1"/>
          <p:nvPr/>
        </p:nvSpPr>
        <p:spPr>
          <a:xfrm>
            <a:off x="640080" y="457200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Revenue = Quantity × Unit Price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Company profile: Fantasy Solution</a:t>
            </a:r>
            <a:endParaRPr lang="en-US" sz="3600" dirty="0"/>
          </a:p>
        </p:txBody>
      </p:sp>
      <p:sp>
        <p:nvSpPr>
          <p:cNvPr id="3" name="Business card"/>
          <p:cNvSpPr/>
          <p:nvPr/>
        </p:nvSpPr>
        <p:spPr>
          <a:xfrm>
            <a:off x="640080" y="1645920"/>
            <a:ext cx="3502152" cy="420624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4" name="Business badge"/>
          <p:cNvSpPr/>
          <p:nvPr/>
        </p:nvSpPr>
        <p:spPr>
          <a:xfrm>
            <a:off x="1005840" y="196596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5" name="Business badge icon" descr="Business ba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171700"/>
            <a:ext cx="411480" cy="411480"/>
          </a:xfrm>
          <a:prstGeom prst="rect">
            <a:avLst/>
          </a:prstGeom>
        </p:spPr>
      </p:pic>
      <p:sp>
        <p:nvSpPr>
          <p:cNvPr id="6" name="Business heading"/>
          <p:cNvSpPr txBox="1"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Business</a:t>
            </a:r>
            <a:endParaRPr lang="en-US" sz="2400" dirty="0"/>
          </a:p>
        </p:txBody>
      </p:sp>
      <p:sp>
        <p:nvSpPr>
          <p:cNvPr id="7" name="Business text"/>
          <p:cNvSpPr txBox="1"/>
          <p:nvPr/>
        </p:nvSpPr>
        <p:spPr>
          <a:xfrm>
            <a:off x="100584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services and software development, based in Trichy, Tamil Nadu.</a:t>
            </a:r>
            <a:endParaRPr lang="en-US" sz="1800" dirty="0"/>
          </a:p>
        </p:txBody>
      </p:sp>
      <p:sp>
        <p:nvSpPr>
          <p:cNvPr id="8" name="Services card"/>
          <p:cNvSpPr/>
          <p:nvPr/>
        </p:nvSpPr>
        <p:spPr>
          <a:xfrm>
            <a:off x="4343400" y="1645920"/>
            <a:ext cx="3502152" cy="420624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9" name="Services badge"/>
          <p:cNvSpPr/>
          <p:nvPr/>
        </p:nvSpPr>
        <p:spPr>
          <a:xfrm>
            <a:off x="4709160" y="196596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0" name="Services badge icon" descr="Services ba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71700"/>
            <a:ext cx="411480" cy="411480"/>
          </a:xfrm>
          <a:prstGeom prst="rect">
            <a:avLst/>
          </a:prstGeom>
        </p:spPr>
      </p:pic>
      <p:sp>
        <p:nvSpPr>
          <p:cNvPr id="11" name="Services heading"/>
          <p:cNvSpPr txBox="1"/>
          <p:nvPr/>
        </p:nvSpPr>
        <p:spPr>
          <a:xfrm>
            <a:off x="470916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Services</a:t>
            </a:r>
            <a:endParaRPr lang="en-US" sz="2400" dirty="0"/>
          </a:p>
        </p:txBody>
      </p:sp>
      <p:sp>
        <p:nvSpPr>
          <p:cNvPr id="12" name="Services list"/>
          <p:cNvSpPr txBox="1"/>
          <p:nvPr/>
        </p:nvSpPr>
        <p:spPr>
          <a:xfrm>
            <a:off x="470916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Web and mobile apps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Database solutions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REST APIs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Testing and technical training</a:t>
            </a:r>
            <a:endParaRPr lang="en-US" sz="1800" dirty="0"/>
          </a:p>
        </p:txBody>
      </p:sp>
      <p:sp>
        <p:nvSpPr>
          <p:cNvPr id="13" name="My role card"/>
          <p:cNvSpPr/>
          <p:nvPr/>
        </p:nvSpPr>
        <p:spPr>
          <a:xfrm>
            <a:off x="8046720" y="1645920"/>
            <a:ext cx="3502152" cy="420624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14" name="My role badge"/>
          <p:cNvSpPr/>
          <p:nvPr/>
        </p:nvSpPr>
        <p:spPr>
          <a:xfrm>
            <a:off x="8412480" y="196596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5" name="My role badge icon" descr="My role bad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171700"/>
            <a:ext cx="411480" cy="411480"/>
          </a:xfrm>
          <a:prstGeom prst="rect">
            <a:avLst/>
          </a:prstGeom>
        </p:spPr>
      </p:pic>
      <p:sp>
        <p:nvSpPr>
          <p:cNvPr id="16" name="My role heading"/>
          <p:cNvSpPr txBox="1"/>
          <p:nvPr/>
        </p:nvSpPr>
        <p:spPr>
          <a:xfrm>
            <a:off x="84124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My role</a:t>
            </a:r>
            <a:endParaRPr lang="en-US" sz="2400" dirty="0"/>
          </a:p>
        </p:txBody>
      </p:sp>
      <p:sp>
        <p:nvSpPr>
          <p:cNvPr id="17" name="My role text"/>
          <p:cNvSpPr txBox="1"/>
          <p:nvPr/>
        </p:nvSpPr>
        <p:spPr>
          <a:xfrm>
            <a:off x="841248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Sales Data Analysis project: loading, cleaning, analysis, charts and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Load and inspect card"/>
          <p:cNvSpPr/>
          <p:nvPr/>
        </p:nvSpPr>
        <p:spPr>
          <a:xfrm>
            <a:off x="640080" y="1645920"/>
            <a:ext cx="53035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5" name="Number 1 text"/>
          <p:cNvSpPr txBox="1"/>
          <p:nvPr/>
        </p:nvSpPr>
        <p:spPr>
          <a:xfrm>
            <a:off x="10058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Load and inspect heading"/>
          <p:cNvSpPr txBox="1"/>
          <p:nvPr/>
        </p:nvSpPr>
        <p:spPr>
          <a:xfrm>
            <a:off x="20116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Load and inspect</a:t>
            </a:r>
            <a:endParaRPr lang="en-US" sz="2400" dirty="0"/>
          </a:p>
        </p:txBody>
      </p:sp>
      <p:sp>
        <p:nvSpPr>
          <p:cNvPr id="7" name="Load and inspect text"/>
          <p:cNvSpPr txBox="1"/>
          <p:nvPr/>
        </p:nvSpPr>
        <p:spPr>
          <a:xfrm>
            <a:off x="201168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 CSV data and check structure and types.</a:t>
            </a:r>
            <a:endParaRPr lang="en-US" sz="1800" dirty="0"/>
          </a:p>
        </p:txBody>
      </p:sp>
      <p:sp>
        <p:nvSpPr>
          <p:cNvPr id="8" name="Clean card"/>
          <p:cNvSpPr/>
          <p:nvPr/>
        </p:nvSpPr>
        <p:spPr>
          <a:xfrm>
            <a:off x="6245352" y="1645920"/>
            <a:ext cx="53035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6611112" y="2011680"/>
            <a:ext cx="731520" cy="73152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Number 2 text"/>
          <p:cNvSpPr txBox="1"/>
          <p:nvPr/>
        </p:nvSpPr>
        <p:spPr>
          <a:xfrm>
            <a:off x="661111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Clean heading"/>
          <p:cNvSpPr txBox="1"/>
          <p:nvPr/>
        </p:nvSpPr>
        <p:spPr>
          <a:xfrm>
            <a:off x="7616952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Clean</a:t>
            </a:r>
            <a:endParaRPr lang="en-US" sz="2400" dirty="0"/>
          </a:p>
        </p:txBody>
      </p:sp>
      <p:sp>
        <p:nvSpPr>
          <p:cNvPr id="12" name="Clean text"/>
          <p:cNvSpPr txBox="1"/>
          <p:nvPr/>
        </p:nvSpPr>
        <p:spPr>
          <a:xfrm>
            <a:off x="7616952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Handle duplicates, missing values and formats.</a:t>
            </a:r>
            <a:endParaRPr lang="en-US" sz="1800" dirty="0"/>
          </a:p>
        </p:txBody>
      </p:sp>
      <p:sp>
        <p:nvSpPr>
          <p:cNvPr id="13" name="Analyse card"/>
          <p:cNvSpPr/>
          <p:nvPr/>
        </p:nvSpPr>
        <p:spPr>
          <a:xfrm>
            <a:off x="640080" y="3886200"/>
            <a:ext cx="53035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1005840" y="4251960"/>
            <a:ext cx="731520" cy="73152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Number 3 text"/>
          <p:cNvSpPr txBox="1"/>
          <p:nvPr/>
        </p:nvSpPr>
        <p:spPr>
          <a:xfrm>
            <a:off x="10058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Analyse heading"/>
          <p:cNvSpPr txBox="1"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Analyse</a:t>
            </a:r>
            <a:endParaRPr lang="en-US" sz="2400" dirty="0"/>
          </a:p>
        </p:txBody>
      </p:sp>
      <p:sp>
        <p:nvSpPr>
          <p:cNvPr id="17" name="Analyse text"/>
          <p:cNvSpPr txBox="1"/>
          <p:nvPr/>
        </p:nvSpPr>
        <p:spPr>
          <a:xfrm>
            <a:off x="2011680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Revenue by product, region and month.</a:t>
            </a:r>
            <a:endParaRPr lang="en-US" sz="1800" dirty="0"/>
          </a:p>
        </p:txBody>
      </p:sp>
      <p:sp>
        <p:nvSpPr>
          <p:cNvPr id="18" name="Visualise card"/>
          <p:cNvSpPr/>
          <p:nvPr/>
        </p:nvSpPr>
        <p:spPr>
          <a:xfrm>
            <a:off x="6245352" y="3886200"/>
            <a:ext cx="53035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6611112" y="4251960"/>
            <a:ext cx="731520" cy="73152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Number 4 text"/>
          <p:cNvSpPr txBox="1"/>
          <p:nvPr/>
        </p:nvSpPr>
        <p:spPr>
          <a:xfrm>
            <a:off x="6611112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Visualise heading"/>
          <p:cNvSpPr txBox="1"/>
          <p:nvPr/>
        </p:nvSpPr>
        <p:spPr>
          <a:xfrm>
            <a:off x="7616952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Visualise</a:t>
            </a:r>
            <a:endParaRPr lang="en-US" sz="2400" dirty="0"/>
          </a:p>
        </p:txBody>
      </p:sp>
      <p:sp>
        <p:nvSpPr>
          <p:cNvPr id="22" name="Visualise text"/>
          <p:cNvSpPr txBox="1"/>
          <p:nvPr/>
        </p:nvSpPr>
        <p:spPr>
          <a:xfrm>
            <a:off x="7616952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Bar and line charts with Matplotlib.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Workflow</a:t>
            </a:r>
            <a:endParaRPr lang="en-US" sz="3600" dirty="0"/>
          </a:p>
        </p:txBody>
      </p:sp>
      <p:sp>
        <p:nvSpPr>
          <p:cNvPr id="3" name="Load step"/>
          <p:cNvSpPr/>
          <p:nvPr/>
        </p:nvSpPr>
        <p:spPr>
          <a:xfrm>
            <a:off x="640080" y="1737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0F4C5C"/>
          </a:solidFill>
          <a:ln/>
        </p:spPr>
      </p:sp>
      <p:sp>
        <p:nvSpPr>
          <p:cNvPr id="4" name="Load step number"/>
          <p:cNvSpPr txBox="1"/>
          <p:nvPr/>
        </p:nvSpPr>
        <p:spPr>
          <a:xfrm>
            <a:off x="6400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E4E6"/>
                </a:solidFill>
              </a:rPr>
              <a:t>STEP 1</a:t>
            </a:r>
            <a:endParaRPr lang="en-US" sz="1200" dirty="0"/>
          </a:p>
        </p:txBody>
      </p:sp>
      <p:sp>
        <p:nvSpPr>
          <p:cNvPr id="5" name="Load step label"/>
          <p:cNvSpPr txBox="1"/>
          <p:nvPr/>
        </p:nvSpPr>
        <p:spPr>
          <a:xfrm>
            <a:off x="6400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Load</a:t>
            </a:r>
            <a:endParaRPr lang="en-US" sz="2400" dirty="0"/>
          </a:p>
        </p:txBody>
      </p:sp>
      <p:sp>
        <p:nvSpPr>
          <p:cNvPr id="6" name="Arrow 1"/>
          <p:cNvSpPr/>
          <p:nvPr/>
        </p:nvSpPr>
        <p:spPr>
          <a:xfrm>
            <a:off x="2526030" y="2331720"/>
            <a:ext cx="32004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Clean step"/>
          <p:cNvSpPr/>
          <p:nvPr/>
        </p:nvSpPr>
        <p:spPr>
          <a:xfrm>
            <a:off x="2903220" y="1737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36414"/>
          </a:solidFill>
          <a:ln/>
        </p:spPr>
      </p:sp>
      <p:sp>
        <p:nvSpPr>
          <p:cNvPr id="8" name="Clean step number"/>
          <p:cNvSpPr txBox="1"/>
          <p:nvPr/>
        </p:nvSpPr>
        <p:spPr>
          <a:xfrm>
            <a:off x="29032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E4E6"/>
                </a:solidFill>
              </a:rPr>
              <a:t>STEP 2</a:t>
            </a:r>
            <a:endParaRPr lang="en-US" sz="1200" dirty="0"/>
          </a:p>
        </p:txBody>
      </p:sp>
      <p:sp>
        <p:nvSpPr>
          <p:cNvPr id="9" name="Clean step label"/>
          <p:cNvSpPr txBox="1"/>
          <p:nvPr/>
        </p:nvSpPr>
        <p:spPr>
          <a:xfrm>
            <a:off x="290322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Clean</a:t>
            </a:r>
            <a:endParaRPr lang="en-US" sz="2400" dirty="0"/>
          </a:p>
        </p:txBody>
      </p:sp>
      <p:sp>
        <p:nvSpPr>
          <p:cNvPr id="10" name="Arrow 2"/>
          <p:cNvSpPr/>
          <p:nvPr/>
        </p:nvSpPr>
        <p:spPr>
          <a:xfrm>
            <a:off x="4789170" y="2331720"/>
            <a:ext cx="32004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Revenue step"/>
          <p:cNvSpPr/>
          <p:nvPr/>
        </p:nvSpPr>
        <p:spPr>
          <a:xfrm>
            <a:off x="5166360" y="1737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0F4C5C"/>
          </a:solidFill>
          <a:ln/>
        </p:spPr>
      </p:sp>
      <p:sp>
        <p:nvSpPr>
          <p:cNvPr id="12" name="Revenue step number"/>
          <p:cNvSpPr txBox="1"/>
          <p:nvPr/>
        </p:nvSpPr>
        <p:spPr>
          <a:xfrm>
            <a:off x="51663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E4E6"/>
                </a:solidFill>
              </a:rPr>
              <a:t>STEP 3</a:t>
            </a:r>
            <a:endParaRPr lang="en-US" sz="1200" dirty="0"/>
          </a:p>
        </p:txBody>
      </p:sp>
      <p:sp>
        <p:nvSpPr>
          <p:cNvPr id="13" name="Revenue step label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Revenue</a:t>
            </a:r>
            <a:endParaRPr lang="en-US" sz="2400" dirty="0"/>
          </a:p>
        </p:txBody>
      </p:sp>
      <p:sp>
        <p:nvSpPr>
          <p:cNvPr id="14" name="Arrow 3"/>
          <p:cNvSpPr/>
          <p:nvPr/>
        </p:nvSpPr>
        <p:spPr>
          <a:xfrm>
            <a:off x="7052310" y="2331720"/>
            <a:ext cx="32004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Analyse step"/>
          <p:cNvSpPr/>
          <p:nvPr/>
        </p:nvSpPr>
        <p:spPr>
          <a:xfrm>
            <a:off x="7429500" y="1737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0F4C5C"/>
          </a:solidFill>
          <a:ln/>
        </p:spPr>
      </p:sp>
      <p:sp>
        <p:nvSpPr>
          <p:cNvPr id="16" name="Analyse step number"/>
          <p:cNvSpPr txBox="1"/>
          <p:nvPr/>
        </p:nvSpPr>
        <p:spPr>
          <a:xfrm>
            <a:off x="74295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E4E6"/>
                </a:solidFill>
              </a:rPr>
              <a:t>STEP 4</a:t>
            </a:r>
            <a:endParaRPr lang="en-US" sz="1200" dirty="0"/>
          </a:p>
        </p:txBody>
      </p:sp>
      <p:sp>
        <p:nvSpPr>
          <p:cNvPr id="17" name="Analyse step label"/>
          <p:cNvSpPr txBox="1"/>
          <p:nvPr/>
        </p:nvSpPr>
        <p:spPr>
          <a:xfrm>
            <a:off x="74295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Analyse</a:t>
            </a:r>
            <a:endParaRPr lang="en-US" sz="2400" dirty="0"/>
          </a:p>
        </p:txBody>
      </p:sp>
      <p:sp>
        <p:nvSpPr>
          <p:cNvPr id="18" name="Arrow 4"/>
          <p:cNvSpPr/>
          <p:nvPr/>
        </p:nvSpPr>
        <p:spPr>
          <a:xfrm>
            <a:off x="9315450" y="2331720"/>
            <a:ext cx="32004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9" name="Charts step"/>
          <p:cNvSpPr/>
          <p:nvPr/>
        </p:nvSpPr>
        <p:spPr>
          <a:xfrm>
            <a:off x="9692640" y="1737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0F4C5C"/>
          </a:solidFill>
          <a:ln/>
        </p:spPr>
      </p:sp>
      <p:sp>
        <p:nvSpPr>
          <p:cNvPr id="20" name="Charts step number"/>
          <p:cNvSpPr txBox="1"/>
          <p:nvPr/>
        </p:nvSpPr>
        <p:spPr>
          <a:xfrm>
            <a:off x="96926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E4E6"/>
                </a:solidFill>
              </a:rPr>
              <a:t>STEP 5</a:t>
            </a:r>
            <a:endParaRPr lang="en-US" sz="1200" dirty="0"/>
          </a:p>
        </p:txBody>
      </p:sp>
      <p:sp>
        <p:nvSpPr>
          <p:cNvPr id="21" name="Charts step label"/>
          <p:cNvSpPr txBox="1"/>
          <p:nvPr/>
        </p:nvSpPr>
        <p:spPr>
          <a:xfrm>
            <a:off x="969264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Charts</a:t>
            </a:r>
            <a:endParaRPr lang="en-US" sz="2400" dirty="0"/>
          </a:p>
        </p:txBody>
      </p:sp>
      <p:sp>
        <p:nvSpPr>
          <p:cNvPr id="22" name="Validity check card"/>
          <p:cNvSpPr/>
          <p:nvPr/>
        </p:nvSpPr>
        <p:spPr>
          <a:xfrm>
            <a:off x="640080" y="3657600"/>
            <a:ext cx="109087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3" name="Validity check badge"/>
          <p:cNvSpPr/>
          <p:nvPr/>
        </p:nvSpPr>
        <p:spPr>
          <a:xfrm>
            <a:off x="1005840" y="402336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pic>
        <p:nvPicPr>
          <p:cNvPr id="24" name="Validity check badge icon" descr="Validity check ba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4229100"/>
            <a:ext cx="411480" cy="411480"/>
          </a:xfrm>
          <a:prstGeom prst="rect">
            <a:avLst/>
          </a:prstGeom>
        </p:spPr>
      </p:pic>
      <p:sp>
        <p:nvSpPr>
          <p:cNvPr id="25" name="Validity heading"/>
          <p:cNvSpPr txBox="1"/>
          <p:nvPr/>
        </p:nvSpPr>
        <p:spPr>
          <a:xfrm>
            <a:off x="219456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Validity check</a:t>
            </a:r>
            <a:endParaRPr lang="en-US" sz="2400" dirty="0"/>
          </a:p>
        </p:txBody>
      </p:sp>
      <p:sp>
        <p:nvSpPr>
          <p:cNvPr id="26" name="Validity text"/>
          <p:cNvSpPr txBox="1"/>
          <p:nvPr/>
        </p:nvSpPr>
        <p:spPr>
          <a:xfrm>
            <a:off x="2194560" y="45720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Faulty data goes to cleaning first, then back into the main flow. Results are validated before the final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Dataset: sales_data.csv</a:t>
            </a:r>
            <a:endParaRPr lang="en-US" sz="3600" dirty="0"/>
          </a:p>
        </p:txBody>
      </p:sp>
      <p:graphicFrame>
        <p:nvGraphicFramePr>
          <p:cNvPr id="7" name="Sample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554480"/>
                <a:gridCol w="1097280"/>
                <a:gridCol w="73152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Order_ID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Region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Unit_Price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ORD1001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2025-01-02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Laptop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North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55,000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ORD1002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2025-01-09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Smartwatch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ORD1003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2025-01-15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Smartphone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North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64008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780"/>
                </a:solidFill>
              </a:rPr>
              <a:t>First three rows of the file. Illustrative sample data.</a:t>
            </a:r>
            <a:endParaRPr lang="en-US" sz="1400" dirty="0"/>
          </a:p>
        </p:txBody>
      </p:sp>
      <p:sp>
        <p:nvSpPr>
          <p:cNvPr id="5" name="rows stat card"/>
          <p:cNvSpPr/>
          <p:nvPr/>
        </p:nvSpPr>
        <p:spPr>
          <a:xfrm>
            <a:off x="8503920" y="1737360"/>
            <a:ext cx="304495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" name="rows stat"/>
          <p:cNvSpPr txBox="1"/>
          <p:nvPr/>
        </p:nvSpPr>
        <p:spPr>
          <a:xfrm>
            <a:off x="877824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61</a:t>
            </a:r>
            <a:endParaRPr lang="en-US" sz="3800" dirty="0"/>
          </a:p>
        </p:txBody>
      </p:sp>
      <p:sp>
        <p:nvSpPr>
          <p:cNvPr id="7" name="rows stat label"/>
          <p:cNvSpPr txBox="1"/>
          <p:nvPr/>
        </p:nvSpPr>
        <p:spPr>
          <a:xfrm>
            <a:off x="87782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rows</a:t>
            </a:r>
            <a:endParaRPr lang="en-US" sz="1600" dirty="0"/>
          </a:p>
        </p:txBody>
      </p:sp>
      <p:sp>
        <p:nvSpPr>
          <p:cNvPr id="8" name="columns stat card"/>
          <p:cNvSpPr/>
          <p:nvPr/>
        </p:nvSpPr>
        <p:spPr>
          <a:xfrm>
            <a:off x="8503920" y="3154680"/>
            <a:ext cx="304495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columns stat"/>
          <p:cNvSpPr txBox="1"/>
          <p:nvPr/>
        </p:nvSpPr>
        <p:spPr>
          <a:xfrm>
            <a:off x="877824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6</a:t>
            </a:r>
            <a:endParaRPr lang="en-US" sz="3800" dirty="0"/>
          </a:p>
        </p:txBody>
      </p:sp>
      <p:sp>
        <p:nvSpPr>
          <p:cNvPr id="10" name="columns stat label"/>
          <p:cNvSpPr txBox="1"/>
          <p:nvPr/>
        </p:nvSpPr>
        <p:spPr>
          <a:xfrm>
            <a:off x="87782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columns</a:t>
            </a:r>
            <a:endParaRPr lang="en-US" sz="1600" dirty="0"/>
          </a:p>
        </p:txBody>
      </p:sp>
      <p:sp>
        <p:nvSpPr>
          <p:cNvPr id="11" name="2025 stat card"/>
          <p:cNvSpPr/>
          <p:nvPr/>
        </p:nvSpPr>
        <p:spPr>
          <a:xfrm>
            <a:off x="8503920" y="4572000"/>
            <a:ext cx="304495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2" name="2025 stat"/>
          <p:cNvSpPr txBox="1"/>
          <p:nvPr/>
        </p:nvSpPr>
        <p:spPr>
          <a:xfrm>
            <a:off x="8778240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Jan – Jun</a:t>
            </a:r>
            <a:endParaRPr lang="en-US" sz="3000" dirty="0"/>
          </a:p>
        </p:txBody>
      </p:sp>
      <p:sp>
        <p:nvSpPr>
          <p:cNvPr id="13" name="2025 stat label"/>
          <p:cNvSpPr txBox="1"/>
          <p:nvPr/>
        </p:nvSpPr>
        <p:spPr>
          <a:xfrm>
            <a:off x="8778240" y="5349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cleaning</a:t>
            </a:r>
            <a:endParaRPr lang="en-US" sz="3600" dirty="0"/>
          </a:p>
        </p:txBody>
      </p:sp>
      <p:sp>
        <p:nvSpPr>
          <p:cNvPr id="3" name="Row count card"/>
          <p:cNvSpPr/>
          <p:nvPr/>
        </p:nvSpPr>
        <p:spPr>
          <a:xfrm>
            <a:off x="640080" y="1645920"/>
            <a:ext cx="448056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4" name="Raw rows"/>
          <p:cNvSpPr txBox="1"/>
          <p:nvPr/>
        </p:nvSpPr>
        <p:spPr>
          <a:xfrm>
            <a:off x="640080" y="17373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2"/>
                </a:solidFill>
              </a:rPr>
              <a:t>61</a:t>
            </a:r>
            <a:endParaRPr lang="en-US" sz="8000" dirty="0"/>
          </a:p>
        </p:txBody>
      </p:sp>
      <p:sp>
        <p:nvSpPr>
          <p:cNvPr id="5" name="Raw rows label"/>
          <p:cNvSpPr txBox="1"/>
          <p:nvPr/>
        </p:nvSpPr>
        <p:spPr>
          <a:xfrm>
            <a:off x="64008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raw rows</a:t>
            </a:r>
            <a:endParaRPr lang="en-US" sz="1800" dirty="0"/>
          </a:p>
        </p:txBody>
      </p:sp>
      <p:sp>
        <p:nvSpPr>
          <p:cNvPr id="6" name="Down arrow"/>
          <p:cNvSpPr/>
          <p:nvPr/>
        </p:nvSpPr>
        <p:spPr>
          <a:xfrm>
            <a:off x="2697480" y="3429000"/>
            <a:ext cx="365760" cy="45720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7" name="Valid orders"/>
          <p:cNvSpPr txBox="1"/>
          <p:nvPr/>
        </p:nvSpPr>
        <p:spPr>
          <a:xfrm>
            <a:off x="640080" y="3931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59</a:t>
            </a:r>
            <a:endParaRPr lang="en-US" sz="8000" dirty="0"/>
          </a:p>
        </p:txBody>
      </p:sp>
      <p:sp>
        <p:nvSpPr>
          <p:cNvPr id="8" name="Valid orders label"/>
          <p:cNvSpPr txBox="1"/>
          <p:nvPr/>
        </p:nvSpPr>
        <p:spPr>
          <a:xfrm>
            <a:off x="64008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valid orders</a:t>
            </a:r>
            <a:endParaRPr lang="en-US" sz="1800" dirty="0"/>
          </a:p>
        </p:txBody>
      </p:sp>
      <p:sp>
        <p:nvSpPr>
          <p:cNvPr id="9" name="Fixes heading"/>
          <p:cNvSpPr txBox="1"/>
          <p:nvPr/>
        </p:nvSpPr>
        <p:spPr>
          <a:xfrm>
            <a:off x="56692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was fixed</a:t>
            </a:r>
            <a:endParaRPr lang="en-US" sz="2400" dirty="0"/>
          </a:p>
        </p:txBody>
      </p:sp>
      <p:sp>
        <p:nvSpPr>
          <p:cNvPr id="10" name="Fixes list"/>
          <p:cNvSpPr txBox="1"/>
          <p:nvPr/>
        </p:nvSpPr>
        <p:spPr>
          <a:xfrm>
            <a:off x="5669280" y="25146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 duplicate order removed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 missing quantity filled with median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 record without region dropped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Region and product names standardised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Headline metrics</a:t>
            </a:r>
            <a:endParaRPr lang="en-US" sz="3600" dirty="0"/>
          </a:p>
        </p:txBody>
      </p:sp>
      <p:sp>
        <p:nvSpPr>
          <p:cNvPr id="3" name="total revenue card"/>
          <p:cNvSpPr/>
          <p:nvPr/>
        </p:nvSpPr>
        <p:spPr>
          <a:xfrm>
            <a:off x="640080" y="1737360"/>
            <a:ext cx="3502152" cy="384048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4" name="total revenue badge"/>
          <p:cNvSpPr/>
          <p:nvPr/>
        </p:nvSpPr>
        <p:spPr>
          <a:xfrm>
            <a:off x="1005840" y="210312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5" name="total revenue badge icon" descr="total revenue ba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308860"/>
            <a:ext cx="411480" cy="411480"/>
          </a:xfrm>
          <a:prstGeom prst="rect">
            <a:avLst/>
          </a:prstGeom>
        </p:spPr>
      </p:pic>
      <p:sp>
        <p:nvSpPr>
          <p:cNvPr id="6" name="total revenue value"/>
          <p:cNvSpPr txBox="1"/>
          <p:nvPr/>
        </p:nvSpPr>
        <p:spPr>
          <a:xfrm>
            <a:off x="100584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INR </a:t>
            </a:r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2,923,500</a:t>
            </a:r>
            <a:endParaRPr lang="en-US" sz="2400" dirty="0"/>
          </a:p>
        </p:txBody>
      </p:sp>
      <p:sp>
        <p:nvSpPr>
          <p:cNvPr id="7" name="total revenue label"/>
          <p:cNvSpPr txBox="1"/>
          <p:nvPr/>
        </p:nvSpPr>
        <p:spPr>
          <a:xfrm>
            <a:off x="100584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revenue</a:t>
            </a:r>
            <a:endParaRPr lang="en-US" sz="2000" dirty="0"/>
          </a:p>
        </p:txBody>
      </p:sp>
      <p:sp>
        <p:nvSpPr>
          <p:cNvPr id="8" name="total orders card"/>
          <p:cNvSpPr/>
          <p:nvPr/>
        </p:nvSpPr>
        <p:spPr>
          <a:xfrm>
            <a:off x="4343400" y="1737360"/>
            <a:ext cx="3502152" cy="384048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9" name="total orders badge"/>
          <p:cNvSpPr/>
          <p:nvPr/>
        </p:nvSpPr>
        <p:spPr>
          <a:xfrm>
            <a:off x="4709160" y="210312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0" name="total orders badge icon" descr="total orders ba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308860"/>
            <a:ext cx="411480" cy="411480"/>
          </a:xfrm>
          <a:prstGeom prst="rect">
            <a:avLst/>
          </a:prstGeom>
        </p:spPr>
      </p:pic>
      <p:sp>
        <p:nvSpPr>
          <p:cNvPr id="11" name="total orders value"/>
          <p:cNvSpPr txBox="1"/>
          <p:nvPr/>
        </p:nvSpPr>
        <p:spPr>
          <a:xfrm>
            <a:off x="470916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59</a:t>
            </a:r>
            <a:endParaRPr lang="en-US" sz="4000" dirty="0"/>
          </a:p>
        </p:txBody>
      </p:sp>
      <p:sp>
        <p:nvSpPr>
          <p:cNvPr id="12" name="total orders label"/>
          <p:cNvSpPr txBox="1"/>
          <p:nvPr/>
        </p:nvSpPr>
        <p:spPr>
          <a:xfrm>
            <a:off x="470916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orders</a:t>
            </a:r>
            <a:endParaRPr lang="en-US" sz="2000" dirty="0"/>
          </a:p>
        </p:txBody>
      </p:sp>
      <p:sp>
        <p:nvSpPr>
          <p:cNvPr id="13" name="average order value card"/>
          <p:cNvSpPr/>
          <p:nvPr/>
        </p:nvSpPr>
        <p:spPr>
          <a:xfrm>
            <a:off x="8046720" y="1737360"/>
            <a:ext cx="3502152" cy="384048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14" name="average order value badge"/>
          <p:cNvSpPr/>
          <p:nvPr/>
        </p:nvSpPr>
        <p:spPr>
          <a:xfrm>
            <a:off x="8412480" y="210312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5" name="average order value badge icon" descr="average order value bad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308860"/>
            <a:ext cx="411480" cy="411480"/>
          </a:xfrm>
          <a:prstGeom prst="rect">
            <a:avLst/>
          </a:prstGeom>
        </p:spPr>
      </p:pic>
      <p:sp>
        <p:nvSpPr>
          <p:cNvPr id="16" name="average order value value"/>
          <p:cNvSpPr txBox="1"/>
          <p:nvPr/>
        </p:nvSpPr>
        <p:spPr>
          <a:xfrm>
            <a:off x="841248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INR </a:t>
            </a:r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49,551</a:t>
            </a:r>
            <a:endParaRPr lang="en-US" sz="2400" dirty="0"/>
          </a:p>
        </p:txBody>
      </p:sp>
      <p:sp>
        <p:nvSpPr>
          <p:cNvPr id="17" name="average order value label"/>
          <p:cNvSpPr txBox="1"/>
          <p:nvPr/>
        </p:nvSpPr>
        <p:spPr>
          <a:xfrm>
            <a:off x="84124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average order value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Revenue by product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duct callout card"/>
          <p:cNvSpPr/>
          <p:nvPr/>
        </p:nvSpPr>
        <p:spPr>
          <a:xfrm>
            <a:off x="8046720" y="1737360"/>
            <a:ext cx="3502152" cy="384048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5" name="Smartphone share"/>
          <p:cNvSpPr txBox="1"/>
          <p:nvPr/>
        </p:nvSpPr>
        <p:spPr>
          <a:xfrm>
            <a:off x="8412480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53.0%</a:t>
            </a:r>
            <a:endParaRPr lang="en-US" sz="5400" dirty="0"/>
          </a:p>
        </p:txBody>
      </p:sp>
      <p:sp>
        <p:nvSpPr>
          <p:cNvPr id="6" name="Product callout text"/>
          <p:cNvSpPr txBox="1"/>
          <p:nvPr/>
        </p:nvSpPr>
        <p:spPr>
          <a:xfrm>
            <a:off x="8412480" y="32004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Smartphone alone earns INR 1,548,000, over half of all revenue.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Revenue by region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gion callout card"/>
          <p:cNvSpPr/>
          <p:nvPr/>
        </p:nvSpPr>
        <p:spPr>
          <a:xfrm>
            <a:off x="8046720" y="1737360"/>
            <a:ext cx="3502152" cy="384048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5" name="North vs South"/>
          <p:cNvSpPr txBox="1"/>
          <p:nvPr/>
        </p:nvSpPr>
        <p:spPr>
          <a:xfrm>
            <a:off x="841248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38.3%</a:t>
            </a:r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  vs  </a:t>
            </a:r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10.0%</a:t>
            </a:r>
            <a:endParaRPr lang="en-US" sz="3200" dirty="0"/>
          </a:p>
        </p:txBody>
      </p:sp>
      <p:sp>
        <p:nvSpPr>
          <p:cNvPr id="6" name="Region callout text"/>
          <p:cNvSpPr txBox="1"/>
          <p:nvPr/>
        </p:nvSpPr>
        <p:spPr>
          <a:xfrm>
            <a:off x="8412480" y="32004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North earns more than three times the revenue of South.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Monthly sales trend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west card"/>
          <p:cNvSpPr/>
          <p:nvPr/>
        </p:nvSpPr>
        <p:spPr>
          <a:xfrm>
            <a:off x="8595360" y="1737360"/>
            <a:ext cx="295351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5" name="Lowest label"/>
          <p:cNvSpPr txBox="1"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6414"/>
                </a:solidFill>
              </a:rPr>
              <a:t>LOWEST  ·  APRIL</a:t>
            </a:r>
            <a:endParaRPr lang="en-US" sz="1300" dirty="0"/>
          </a:p>
        </p:txBody>
      </p:sp>
      <p:sp>
        <p:nvSpPr>
          <p:cNvPr id="6" name="Lowest value"/>
          <p:cNvSpPr txBox="1"/>
          <p:nvPr/>
        </p:nvSpPr>
        <p:spPr>
          <a:xfrm>
            <a:off x="88696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INR 224,500</a:t>
            </a:r>
            <a:endParaRPr lang="en-US" sz="3000" dirty="0"/>
          </a:p>
        </p:txBody>
      </p:sp>
      <p:sp>
        <p:nvSpPr>
          <p:cNvPr id="7" name="Highest card"/>
          <p:cNvSpPr/>
          <p:nvPr/>
        </p:nvSpPr>
        <p:spPr>
          <a:xfrm>
            <a:off x="8595360" y="3703320"/>
            <a:ext cx="295351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Highest label"/>
          <p:cNvSpPr txBox="1"/>
          <p:nvPr/>
        </p:nvSpPr>
        <p:spPr>
          <a:xfrm>
            <a:off x="88696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4C5C"/>
                </a:solidFill>
              </a:rPr>
              <a:t>HIGHEST  ·  JUNE</a:t>
            </a:r>
            <a:endParaRPr lang="en-US" sz="1300" dirty="0"/>
          </a:p>
        </p:txBody>
      </p:sp>
      <p:sp>
        <p:nvSpPr>
          <p:cNvPr id="9" name="Highest value"/>
          <p:cNvSpPr txBox="1"/>
          <p:nvPr/>
        </p:nvSpPr>
        <p:spPr>
          <a:xfrm>
            <a:off x="8869680" y="4389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INR 715,000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Testing and validation</a:t>
            </a:r>
            <a:endParaRPr lang="en-US" sz="3600" dirty="0"/>
          </a:p>
        </p:txBody>
      </p:sp>
      <p:sp>
        <p:nvSpPr>
          <p:cNvPr id="3" name="Test row 1"/>
          <p:cNvSpPr/>
          <p:nvPr/>
        </p:nvSpPr>
        <p:spPr>
          <a:xfrm>
            <a:off x="640080" y="1645920"/>
            <a:ext cx="109087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Test figure 1"/>
          <p:cNvSpPr/>
          <p:nvPr/>
        </p:nvSpPr>
        <p:spPr>
          <a:xfrm>
            <a:off x="640080" y="164592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0F4C5C"/>
          </a:solidFill>
          <a:ln/>
        </p:spPr>
      </p:sp>
      <p:sp>
        <p:nvSpPr>
          <p:cNvPr id="5" name="Tests passed"/>
          <p:cNvSpPr txBox="1"/>
          <p:nvPr/>
        </p:nvSpPr>
        <p:spPr>
          <a:xfrm>
            <a:off x="640080" y="16459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7 of 7</a:t>
            </a:r>
            <a:endParaRPr lang="en-US" sz="5400" dirty="0"/>
          </a:p>
        </p:txBody>
      </p:sp>
      <p:sp>
        <p:nvSpPr>
          <p:cNvPr id="6" name="Test description 1"/>
          <p:cNvSpPr txBox="1"/>
          <p:nvPr/>
        </p:nvSpPr>
        <p:spPr>
          <a:xfrm>
            <a:off x="5029200" y="19202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functional test cases passed: duplicates, dates, missing values, text formats, revenue.</a:t>
            </a:r>
            <a:endParaRPr lang="en-US" sz="2000" dirty="0"/>
          </a:p>
        </p:txBody>
      </p:sp>
      <p:sp>
        <p:nvSpPr>
          <p:cNvPr id="7" name="Test row 2"/>
          <p:cNvSpPr/>
          <p:nvPr/>
        </p:nvSpPr>
        <p:spPr>
          <a:xfrm>
            <a:off x="640080" y="3840480"/>
            <a:ext cx="109087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Test figure 2"/>
          <p:cNvSpPr/>
          <p:nvPr/>
        </p:nvSpPr>
        <p:spPr>
          <a:xfrm>
            <a:off x="640080" y="384048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0F4C5C"/>
          </a:solidFill>
          <a:ln/>
        </p:spPr>
      </p:sp>
      <p:sp>
        <p:nvSpPr>
          <p:cNvPr id="9" name="Matched total"/>
          <p:cNvSpPr txBox="1"/>
          <p:nvPr/>
        </p:nvSpPr>
        <p:spPr>
          <a:xfrm>
            <a:off x="640080" y="3840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INR </a:t>
            </a:r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2,923,500</a:t>
            </a:r>
            <a:endParaRPr lang="en-US" sz="2400" dirty="0"/>
          </a:p>
        </p:txBody>
      </p:sp>
      <p:sp>
        <p:nvSpPr>
          <p:cNvPr id="10" name="Test description 2"/>
          <p:cNvSpPr txBox="1"/>
          <p:nvPr/>
        </p:nvSpPr>
        <p:spPr>
          <a:xfrm>
            <a:off x="5029200" y="41148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product, region and month totals each match total revenue.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record was lost or counted twice during grouping.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Business implications</a:t>
            </a:r>
            <a:endParaRPr lang="en-US" sz="3600" dirty="0"/>
          </a:p>
        </p:txBody>
      </p:sp>
      <p:sp>
        <p:nvSpPr>
          <p:cNvPr id="3" name="Stock row"/>
          <p:cNvSpPr/>
          <p:nvPr/>
        </p:nvSpPr>
        <p:spPr>
          <a:xfrm>
            <a:off x="640080" y="1645920"/>
            <a:ext cx="10908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" name="Stock badge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5" name="Stock badge icon" descr="Stock ba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034540"/>
            <a:ext cx="411480" cy="411480"/>
          </a:xfrm>
          <a:prstGeom prst="rect">
            <a:avLst/>
          </a:prstGeom>
        </p:spPr>
      </p:pic>
      <p:sp>
        <p:nvSpPr>
          <p:cNvPr id="6" name="Stock heading"/>
          <p:cNvSpPr txBox="1"/>
          <p:nvPr/>
        </p:nvSpPr>
        <p:spPr>
          <a:xfrm>
            <a:off x="2194560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Stock</a:t>
            </a:r>
            <a:endParaRPr lang="en-US" sz="2400" dirty="0"/>
          </a:p>
        </p:txBody>
      </p:sp>
      <p:sp>
        <p:nvSpPr>
          <p:cNvPr id="7" name="Stock text"/>
          <p:cNvSpPr txBox="1"/>
          <p:nvPr/>
        </p:nvSpPr>
        <p:spPr>
          <a:xfrm>
            <a:off x="4572000" y="16459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Smartphone is over half of revenue, so monitor its stock closely.</a:t>
            </a:r>
            <a:endParaRPr lang="en-US" sz="2000" dirty="0"/>
          </a:p>
        </p:txBody>
      </p:sp>
      <p:sp>
        <p:nvSpPr>
          <p:cNvPr id="8" name="Regions row"/>
          <p:cNvSpPr/>
          <p:nvPr/>
        </p:nvSpPr>
        <p:spPr>
          <a:xfrm>
            <a:off x="640080" y="3017520"/>
            <a:ext cx="10908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9" name="Regions badge"/>
          <p:cNvSpPr/>
          <p:nvPr/>
        </p:nvSpPr>
        <p:spPr>
          <a:xfrm>
            <a:off x="1005840" y="320040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pic>
        <p:nvPicPr>
          <p:cNvPr id="10" name="Regions badge icon" descr="Regions ba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3406140"/>
            <a:ext cx="411480" cy="411480"/>
          </a:xfrm>
          <a:prstGeom prst="rect">
            <a:avLst/>
          </a:prstGeom>
        </p:spPr>
      </p:pic>
      <p:sp>
        <p:nvSpPr>
          <p:cNvPr id="11" name="Regions heading"/>
          <p:cNvSpPr txBox="1"/>
          <p:nvPr/>
        </p:nvSpPr>
        <p:spPr>
          <a:xfrm>
            <a:off x="219456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Regions</a:t>
            </a:r>
            <a:endParaRPr lang="en-US" sz="2400" dirty="0"/>
          </a:p>
        </p:txBody>
      </p:sp>
      <p:sp>
        <p:nvSpPr>
          <p:cNvPr id="12" name="Regions text"/>
          <p:cNvSpPr txBox="1"/>
          <p:nvPr/>
        </p:nvSpPr>
        <p:spPr>
          <a:xfrm>
            <a:off x="4572000" y="30175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South contributes only 10%, so investigate further.</a:t>
            </a:r>
            <a:endParaRPr lang="en-US" sz="2000" dirty="0"/>
          </a:p>
        </p:txBody>
      </p:sp>
      <p:sp>
        <p:nvSpPr>
          <p:cNvPr id="13" name="Promotions row"/>
          <p:cNvSpPr/>
          <p:nvPr/>
        </p:nvSpPr>
        <p:spPr>
          <a:xfrm>
            <a:off x="640080" y="4389120"/>
            <a:ext cx="10908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4" name="Promotions badge"/>
          <p:cNvSpPr/>
          <p:nvPr/>
        </p:nvSpPr>
        <p:spPr>
          <a:xfrm>
            <a:off x="1005840" y="4572000"/>
            <a:ext cx="822960" cy="822960"/>
          </a:xfrm>
          <a:prstGeom prst="ellipse">
            <a:avLst/>
          </a:prstGeom>
          <a:solidFill>
            <a:srgbClr val="0F4C5C"/>
          </a:solidFill>
          <a:ln/>
        </p:spPr>
      </p:sp>
      <p:pic>
        <p:nvPicPr>
          <p:cNvPr id="15" name="Promotions badge icon" descr="Promotions bad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4777740"/>
            <a:ext cx="411480" cy="411480"/>
          </a:xfrm>
          <a:prstGeom prst="rect">
            <a:avLst/>
          </a:prstGeom>
        </p:spPr>
      </p:pic>
      <p:sp>
        <p:nvSpPr>
          <p:cNvPr id="16" name="Promotions heading"/>
          <p:cNvSpPr txBox="1"/>
          <p:nvPr/>
        </p:nvSpPr>
        <p:spPr>
          <a:xfrm>
            <a:off x="2194560" y="4389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Promotions</a:t>
            </a:r>
            <a:endParaRPr lang="en-US" sz="2400" dirty="0"/>
          </a:p>
        </p:txBody>
      </p:sp>
      <p:sp>
        <p:nvSpPr>
          <p:cNvPr id="17" name="Promotions text"/>
          <p:cNvSpPr txBox="1"/>
          <p:nvPr/>
        </p:nvSpPr>
        <p:spPr>
          <a:xfrm>
            <a:off x="4572000" y="43891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Plan campaigns for weaker months like April.</a:t>
            </a:r>
            <a:endParaRPr lang="en-US" sz="2000" dirty="0"/>
          </a:p>
        </p:txBody>
      </p:sp>
      <p:sp>
        <p:nvSpPr>
          <p:cNvPr id="18" name="Caveat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780"/>
                </a:solidFill>
              </a:rPr>
              <a:t>Findings should be confirmed with actual company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Learnings and future scope</a:t>
            </a:r>
            <a:endParaRPr lang="en-US" sz="3600" dirty="0"/>
          </a:p>
        </p:txBody>
      </p:sp>
      <p:sp>
        <p:nvSpPr>
          <p:cNvPr id="3" name="Learned card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4" name="Learned heading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Learned</a:t>
            </a:r>
            <a:endParaRPr lang="en-US" sz="2400" dirty="0"/>
          </a:p>
        </p:txBody>
      </p:sp>
      <p:sp>
        <p:nvSpPr>
          <p:cNvPr id="5" name="Learned list"/>
          <p:cNvSpPr txBox="1"/>
          <p:nvPr/>
        </p:nvSpPr>
        <p:spPr>
          <a:xfrm>
            <a:off x="1005840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Pandas cleaning, grouping, revenue metrics and charts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validation matters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ML, SQL, big data and deployment topics over 30 days</a:t>
            </a:r>
            <a:endParaRPr lang="en-US" sz="1800" dirty="0"/>
          </a:p>
        </p:txBody>
      </p:sp>
      <p:sp>
        <p:nvSpPr>
          <p:cNvPr id="6" name="Next card"/>
          <p:cNvSpPr/>
          <p:nvPr/>
        </p:nvSpPr>
        <p:spPr>
          <a:xfrm>
            <a:off x="6245352" y="164592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0F4C5C"/>
          </a:solidFill>
          <a:ln/>
        </p:spPr>
      </p:sp>
      <p:sp>
        <p:nvSpPr>
          <p:cNvPr id="7" name="Next heading"/>
          <p:cNvSpPr txBox="1"/>
          <p:nvPr/>
        </p:nvSpPr>
        <p:spPr>
          <a:xfrm>
            <a:off x="6611112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Next</a:t>
            </a:r>
            <a:endParaRPr lang="en-US" sz="2400" dirty="0"/>
          </a:p>
        </p:txBody>
      </p:sp>
      <p:sp>
        <p:nvSpPr>
          <p:cNvPr id="8" name="Next list"/>
          <p:cNvSpPr txBox="1"/>
          <p:nvPr/>
        </p:nvSpPr>
        <p:spPr>
          <a:xfrm>
            <a:off x="6611112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MySQL data source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Dashboards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Sales forecasting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Profit and customer analysis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Web upload app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4E6"/>
                </a:solidFill>
              </a:rPr>
              <a:t>61 raw rows became 59 valid orders and INR 2,923,500 of insight. Smartphone and North lead; April is the low and June the peak.</a:t>
            </a:r>
            <a:endParaRPr lang="en-US" sz="2000" dirty="0"/>
          </a:p>
        </p:txBody>
      </p:sp>
      <p:sp>
        <p:nvSpPr>
          <p:cNvPr id="4" name="Sign-off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A259"/>
                </a:solidFill>
              </a:rPr>
              <a:t>Harikrishnan T  |  Fantasy Solution Internship</a:t>
            </a:r>
            <a:endParaRPr lang="en-US" sz="1600" dirty="0"/>
          </a:p>
        </p:txBody>
      </p:sp>
      <p:sp>
        <p:nvSpPr>
          <p:cNvPr id="5" name="Monthly bar 1"/>
          <p:cNvSpPr/>
          <p:nvPr/>
        </p:nvSpPr>
        <p:spPr>
          <a:xfrm>
            <a:off x="7498080" y="2309148"/>
            <a:ext cx="457200" cy="25371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Monthly bar 2"/>
          <p:cNvSpPr/>
          <p:nvPr/>
        </p:nvSpPr>
        <p:spPr>
          <a:xfrm>
            <a:off x="8183880" y="2476553"/>
            <a:ext cx="457200" cy="236976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Monthly bar 3"/>
          <p:cNvSpPr/>
          <p:nvPr/>
        </p:nvSpPr>
        <p:spPr>
          <a:xfrm>
            <a:off x="8869680" y="3244010"/>
            <a:ext cx="457200" cy="160231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Monthly bar 4"/>
          <p:cNvSpPr/>
          <p:nvPr/>
        </p:nvSpPr>
        <p:spPr>
          <a:xfrm>
            <a:off x="9555480" y="3870150"/>
            <a:ext cx="457200" cy="97617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Monthly bar 5"/>
          <p:cNvSpPr/>
          <p:nvPr/>
        </p:nvSpPr>
        <p:spPr>
          <a:xfrm>
            <a:off x="10241280" y="2728749"/>
            <a:ext cx="457200" cy="211757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Monthly bar 6"/>
          <p:cNvSpPr/>
          <p:nvPr/>
        </p:nvSpPr>
        <p:spPr>
          <a:xfrm>
            <a:off x="10927080" y="1737360"/>
            <a:ext cx="457200" cy="3108960"/>
          </a:xfrm>
          <a:prstGeom prst="rect">
            <a:avLst/>
          </a:prstGeom>
          <a:solidFill>
            <a:srgbClr val="E364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ales Analysis">
  <a:themeElements>
    <a:clrScheme name="Sales Analysis">
      <a:dk1>
        <a:srgbClr val="1F2933"/>
      </a:dk1>
      <a:lt1>
        <a:srgbClr val="FFFFFF"/>
      </a:lt1>
      <a:dk2>
        <a:srgbClr val="0F4C5C"/>
      </a:dk2>
      <a:lt2>
        <a:srgbClr val="EAF1F2"/>
      </a:lt2>
      <a:accent1>
        <a:srgbClr val="0F4C5C"/>
      </a:accent1>
      <a:accent2>
        <a:srgbClr val="E36414"/>
      </a:accent2>
      <a:accent3>
        <a:srgbClr val="4C7F6C"/>
      </a:accent3>
      <a:accent4>
        <a:srgbClr val="F4A259"/>
      </a:accent4>
      <a:accent5>
        <a:srgbClr val="2F7D8C"/>
      </a:accent5>
      <a:accent6>
        <a:srgbClr val="7A8B99"/>
      </a:accent6>
      <a:hlink>
        <a:srgbClr val="0F4C5C"/>
      </a:hlink>
      <a:folHlink>
        <a:srgbClr val="7A8B99"/>
      </a:folHlink>
    </a:clrScheme>
    <a:fontScheme name="Sales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</dc:title>
  <dc:subject>PptxGenJS Presentation</dc:subject>
  <dc:creator>Harikrishnan T</dc:creator>
  <cp:lastModifiedBy>Harikrishnan T</cp:lastModifiedBy>
  <cp:revision>1</cp:revision>
  <dcterms:created xsi:type="dcterms:W3CDTF">2026-10-22T04:28:36Z</dcterms:created>
  <dcterms:modified xsi:type="dcterms:W3CDTF">2026-10-22T04:28:36Z</dcterms:modified>
</cp:coreProperties>
</file>